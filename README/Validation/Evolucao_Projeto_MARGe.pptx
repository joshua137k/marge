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24346" y="1757298"/>
            <a:ext cx="4796790" cy="1718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0"/>
            <a:ext cx="914398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763" y="2097023"/>
            <a:ext cx="3626358" cy="233400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7908" y="2467355"/>
            <a:ext cx="3630167" cy="233781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3439" y="2510027"/>
            <a:ext cx="3496055" cy="2299716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35405" y="2491867"/>
            <a:ext cx="3540125" cy="2247900"/>
          </a:xfrm>
          <a:custGeom>
            <a:avLst/>
            <a:gdLst/>
            <a:ahLst/>
            <a:cxnLst/>
            <a:rect l="l" t="t" r="r" b="b"/>
            <a:pathLst>
              <a:path w="3540125" h="2247900">
                <a:moveTo>
                  <a:pt x="3315207" y="0"/>
                </a:moveTo>
                <a:lnTo>
                  <a:pt x="224790" y="0"/>
                </a:lnTo>
                <a:lnTo>
                  <a:pt x="179484" y="4569"/>
                </a:lnTo>
                <a:lnTo>
                  <a:pt x="137288" y="17674"/>
                </a:lnTo>
                <a:lnTo>
                  <a:pt x="99104" y="38408"/>
                </a:lnTo>
                <a:lnTo>
                  <a:pt x="65836" y="65865"/>
                </a:lnTo>
                <a:lnTo>
                  <a:pt x="38388" y="99138"/>
                </a:lnTo>
                <a:lnTo>
                  <a:pt x="17664" y="137320"/>
                </a:lnTo>
                <a:lnTo>
                  <a:pt x="4566" y="179506"/>
                </a:lnTo>
                <a:lnTo>
                  <a:pt x="0" y="224790"/>
                </a:lnTo>
                <a:lnTo>
                  <a:pt x="0" y="2023110"/>
                </a:lnTo>
                <a:lnTo>
                  <a:pt x="4566" y="2068393"/>
                </a:lnTo>
                <a:lnTo>
                  <a:pt x="17664" y="2110579"/>
                </a:lnTo>
                <a:lnTo>
                  <a:pt x="38388" y="2148761"/>
                </a:lnTo>
                <a:lnTo>
                  <a:pt x="65836" y="2182034"/>
                </a:lnTo>
                <a:lnTo>
                  <a:pt x="99104" y="2209491"/>
                </a:lnTo>
                <a:lnTo>
                  <a:pt x="137288" y="2230225"/>
                </a:lnTo>
                <a:lnTo>
                  <a:pt x="179484" y="2243330"/>
                </a:lnTo>
                <a:lnTo>
                  <a:pt x="224790" y="2247900"/>
                </a:lnTo>
                <a:lnTo>
                  <a:pt x="3315207" y="2247900"/>
                </a:lnTo>
                <a:lnTo>
                  <a:pt x="3360485" y="2243330"/>
                </a:lnTo>
                <a:lnTo>
                  <a:pt x="3402657" y="2230225"/>
                </a:lnTo>
                <a:lnTo>
                  <a:pt x="3440819" y="2209491"/>
                </a:lnTo>
                <a:lnTo>
                  <a:pt x="3474069" y="2182034"/>
                </a:lnTo>
                <a:lnTo>
                  <a:pt x="3501502" y="2148761"/>
                </a:lnTo>
                <a:lnTo>
                  <a:pt x="3522216" y="2110579"/>
                </a:lnTo>
                <a:lnTo>
                  <a:pt x="3535306" y="2068393"/>
                </a:lnTo>
                <a:lnTo>
                  <a:pt x="3539871" y="2023110"/>
                </a:lnTo>
                <a:lnTo>
                  <a:pt x="3539871" y="224790"/>
                </a:lnTo>
                <a:lnTo>
                  <a:pt x="3535306" y="179506"/>
                </a:lnTo>
                <a:lnTo>
                  <a:pt x="3522216" y="137320"/>
                </a:lnTo>
                <a:lnTo>
                  <a:pt x="3501502" y="99138"/>
                </a:lnTo>
                <a:lnTo>
                  <a:pt x="3474069" y="65865"/>
                </a:lnTo>
                <a:lnTo>
                  <a:pt x="3440819" y="38408"/>
                </a:lnTo>
                <a:lnTo>
                  <a:pt x="3402657" y="17674"/>
                </a:lnTo>
                <a:lnTo>
                  <a:pt x="3360485" y="4569"/>
                </a:lnTo>
                <a:lnTo>
                  <a:pt x="3315207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35405" y="2491867"/>
            <a:ext cx="3540125" cy="2247900"/>
          </a:xfrm>
          <a:custGeom>
            <a:avLst/>
            <a:gdLst/>
            <a:ahLst/>
            <a:cxnLst/>
            <a:rect l="l" t="t" r="r" b="b"/>
            <a:pathLst>
              <a:path w="3540125" h="2247900">
                <a:moveTo>
                  <a:pt x="0" y="224790"/>
                </a:moveTo>
                <a:lnTo>
                  <a:pt x="4566" y="179506"/>
                </a:lnTo>
                <a:lnTo>
                  <a:pt x="17664" y="137320"/>
                </a:lnTo>
                <a:lnTo>
                  <a:pt x="38388" y="99138"/>
                </a:lnTo>
                <a:lnTo>
                  <a:pt x="65836" y="65865"/>
                </a:lnTo>
                <a:lnTo>
                  <a:pt x="99104" y="38408"/>
                </a:lnTo>
                <a:lnTo>
                  <a:pt x="137288" y="17674"/>
                </a:lnTo>
                <a:lnTo>
                  <a:pt x="179484" y="4569"/>
                </a:lnTo>
                <a:lnTo>
                  <a:pt x="224790" y="0"/>
                </a:lnTo>
                <a:lnTo>
                  <a:pt x="3315207" y="0"/>
                </a:lnTo>
                <a:lnTo>
                  <a:pt x="3360485" y="4569"/>
                </a:lnTo>
                <a:lnTo>
                  <a:pt x="3402657" y="17674"/>
                </a:lnTo>
                <a:lnTo>
                  <a:pt x="3440819" y="38408"/>
                </a:lnTo>
                <a:lnTo>
                  <a:pt x="3474069" y="65865"/>
                </a:lnTo>
                <a:lnTo>
                  <a:pt x="3501502" y="99138"/>
                </a:lnTo>
                <a:lnTo>
                  <a:pt x="3522216" y="137320"/>
                </a:lnTo>
                <a:lnTo>
                  <a:pt x="3535306" y="179506"/>
                </a:lnTo>
                <a:lnTo>
                  <a:pt x="3539871" y="224790"/>
                </a:lnTo>
                <a:lnTo>
                  <a:pt x="3539871" y="2023110"/>
                </a:lnTo>
                <a:lnTo>
                  <a:pt x="3535306" y="2068393"/>
                </a:lnTo>
                <a:lnTo>
                  <a:pt x="3522216" y="2110579"/>
                </a:lnTo>
                <a:lnTo>
                  <a:pt x="3501502" y="2148761"/>
                </a:lnTo>
                <a:lnTo>
                  <a:pt x="3474069" y="2182034"/>
                </a:lnTo>
                <a:lnTo>
                  <a:pt x="3440819" y="2209491"/>
                </a:lnTo>
                <a:lnTo>
                  <a:pt x="3402657" y="2230225"/>
                </a:lnTo>
                <a:lnTo>
                  <a:pt x="3360485" y="2243330"/>
                </a:lnTo>
                <a:lnTo>
                  <a:pt x="3315207" y="2247900"/>
                </a:lnTo>
                <a:lnTo>
                  <a:pt x="224790" y="2247900"/>
                </a:lnTo>
                <a:lnTo>
                  <a:pt x="179484" y="2243330"/>
                </a:lnTo>
                <a:lnTo>
                  <a:pt x="137288" y="2230225"/>
                </a:lnTo>
                <a:lnTo>
                  <a:pt x="99104" y="2209491"/>
                </a:lnTo>
                <a:lnTo>
                  <a:pt x="65836" y="2182034"/>
                </a:lnTo>
                <a:lnTo>
                  <a:pt x="38388" y="2148761"/>
                </a:lnTo>
                <a:lnTo>
                  <a:pt x="17664" y="2110579"/>
                </a:lnTo>
                <a:lnTo>
                  <a:pt x="4566" y="2068393"/>
                </a:lnTo>
                <a:lnTo>
                  <a:pt x="0" y="2023110"/>
                </a:lnTo>
                <a:lnTo>
                  <a:pt x="0" y="224790"/>
                </a:lnTo>
                <a:close/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587" y="307924"/>
            <a:ext cx="7415552" cy="1312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542" y="1769181"/>
            <a:ext cx="7691755" cy="270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04470" marR="5080" indent="-192405">
              <a:lnSpc>
                <a:spcPts val="6380"/>
              </a:lnSpc>
              <a:spcBef>
                <a:spcPts val="775"/>
              </a:spcBef>
            </a:pPr>
            <a:r>
              <a:rPr sz="5800" dirty="0">
                <a:solidFill>
                  <a:srgbClr val="FFFFFF"/>
                </a:solidFill>
              </a:rPr>
              <a:t>Evolution</a:t>
            </a:r>
            <a:r>
              <a:rPr sz="5800" spc="-165" dirty="0">
                <a:solidFill>
                  <a:srgbClr val="FFFFFF"/>
                </a:solidFill>
              </a:rPr>
              <a:t> </a:t>
            </a:r>
            <a:r>
              <a:rPr sz="5800" dirty="0">
                <a:solidFill>
                  <a:srgbClr val="FFFFFF"/>
                </a:solidFill>
              </a:rPr>
              <a:t>of</a:t>
            </a:r>
            <a:r>
              <a:rPr sz="5800" spc="-165" dirty="0">
                <a:solidFill>
                  <a:srgbClr val="FFFFFF"/>
                </a:solidFill>
              </a:rPr>
              <a:t> </a:t>
            </a:r>
            <a:r>
              <a:rPr sz="5800" spc="-25" dirty="0">
                <a:solidFill>
                  <a:srgbClr val="FFFFFF"/>
                </a:solidFill>
              </a:rPr>
              <a:t>the </a:t>
            </a:r>
            <a:r>
              <a:rPr sz="5800" dirty="0">
                <a:solidFill>
                  <a:srgbClr val="FFFFFF"/>
                </a:solidFill>
              </a:rPr>
              <a:t>MARGe</a:t>
            </a:r>
            <a:r>
              <a:rPr sz="5800" spc="-185" dirty="0">
                <a:solidFill>
                  <a:srgbClr val="FFFFFF"/>
                </a:solidFill>
              </a:rPr>
              <a:t> </a:t>
            </a:r>
            <a:r>
              <a:rPr sz="5800" spc="-10" dirty="0">
                <a:solidFill>
                  <a:srgbClr val="FFFFFF"/>
                </a:solidFill>
              </a:rPr>
              <a:t>Project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4514278" y="4404913"/>
            <a:ext cx="39243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8160">
              <a:lnSpc>
                <a:spcPct val="11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Joshua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Dourado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Capistrano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Computational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Aveiro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3844925" cy="6858000"/>
            <a:chOff x="0" y="0"/>
            <a:chExt cx="384492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44416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436112" cy="685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3045" y="0"/>
              <a:ext cx="663067" cy="685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1075" y="3127905"/>
              <a:ext cx="196739" cy="1967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1955" y="3545390"/>
              <a:ext cx="196739" cy="1967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28740" y="2849992"/>
              <a:ext cx="1398270" cy="1659889"/>
            </a:xfrm>
            <a:custGeom>
              <a:avLst/>
              <a:gdLst/>
              <a:ahLst/>
              <a:cxnLst/>
              <a:rect l="l" t="t" r="r" b="b"/>
              <a:pathLst>
                <a:path w="1398270" h="1659889">
                  <a:moveTo>
                    <a:pt x="617981" y="0"/>
                  </a:moveTo>
                  <a:lnTo>
                    <a:pt x="571302" y="1762"/>
                  </a:lnTo>
                  <a:lnTo>
                    <a:pt x="524820" y="7051"/>
                  </a:lnTo>
                  <a:lnTo>
                    <a:pt x="478735" y="15865"/>
                  </a:lnTo>
                  <a:lnTo>
                    <a:pt x="433243" y="28204"/>
                  </a:lnTo>
                  <a:lnTo>
                    <a:pt x="388542" y="44069"/>
                  </a:lnTo>
                  <a:lnTo>
                    <a:pt x="344831" y="63460"/>
                  </a:lnTo>
                  <a:lnTo>
                    <a:pt x="302306" y="86376"/>
                  </a:lnTo>
                  <a:lnTo>
                    <a:pt x="261685" y="112520"/>
                  </a:lnTo>
                  <a:lnTo>
                    <a:pt x="223613" y="141500"/>
                  </a:lnTo>
                  <a:lnTo>
                    <a:pt x="188186" y="173126"/>
                  </a:lnTo>
                  <a:lnTo>
                    <a:pt x="155497" y="207209"/>
                  </a:lnTo>
                  <a:lnTo>
                    <a:pt x="125641" y="243559"/>
                  </a:lnTo>
                  <a:lnTo>
                    <a:pt x="98712" y="281989"/>
                  </a:lnTo>
                  <a:lnTo>
                    <a:pt x="74805" y="322308"/>
                  </a:lnTo>
                  <a:lnTo>
                    <a:pt x="54014" y="364328"/>
                  </a:lnTo>
                  <a:lnTo>
                    <a:pt x="36434" y="407860"/>
                  </a:lnTo>
                  <a:lnTo>
                    <a:pt x="22159" y="452715"/>
                  </a:lnTo>
                  <a:lnTo>
                    <a:pt x="11284" y="498704"/>
                  </a:lnTo>
                  <a:lnTo>
                    <a:pt x="4015" y="544924"/>
                  </a:lnTo>
                  <a:lnTo>
                    <a:pt x="110" y="593356"/>
                  </a:lnTo>
                  <a:lnTo>
                    <a:pt x="0" y="641583"/>
                  </a:lnTo>
                  <a:lnTo>
                    <a:pt x="1829" y="690140"/>
                  </a:lnTo>
                  <a:lnTo>
                    <a:pt x="7264" y="738004"/>
                  </a:lnTo>
                  <a:lnTo>
                    <a:pt x="16227" y="784997"/>
                  </a:lnTo>
                  <a:lnTo>
                    <a:pt x="28638" y="830940"/>
                  </a:lnTo>
                  <a:lnTo>
                    <a:pt x="44420" y="875655"/>
                  </a:lnTo>
                  <a:lnTo>
                    <a:pt x="63494" y="918964"/>
                  </a:lnTo>
                  <a:lnTo>
                    <a:pt x="85781" y="960687"/>
                  </a:lnTo>
                  <a:lnTo>
                    <a:pt x="111203" y="1000646"/>
                  </a:lnTo>
                  <a:lnTo>
                    <a:pt x="139682" y="1038663"/>
                  </a:lnTo>
                  <a:lnTo>
                    <a:pt x="171137" y="1074559"/>
                  </a:lnTo>
                  <a:lnTo>
                    <a:pt x="205492" y="1108156"/>
                  </a:lnTo>
                  <a:lnTo>
                    <a:pt x="242668" y="1139275"/>
                  </a:lnTo>
                  <a:lnTo>
                    <a:pt x="242668" y="1659588"/>
                  </a:lnTo>
                  <a:lnTo>
                    <a:pt x="892525" y="1659588"/>
                  </a:lnTo>
                  <a:lnTo>
                    <a:pt x="892525" y="1412799"/>
                  </a:lnTo>
                  <a:lnTo>
                    <a:pt x="993294" y="1412799"/>
                  </a:lnTo>
                  <a:lnTo>
                    <a:pt x="1041686" y="1407915"/>
                  </a:lnTo>
                  <a:lnTo>
                    <a:pt x="1087379" y="1393776"/>
                  </a:lnTo>
                  <a:lnTo>
                    <a:pt x="1129216" y="1371154"/>
                  </a:lnTo>
                  <a:lnTo>
                    <a:pt x="1166041" y="1340819"/>
                  </a:lnTo>
                  <a:lnTo>
                    <a:pt x="1196053" y="1302805"/>
                  </a:lnTo>
                  <a:lnTo>
                    <a:pt x="1217968" y="1260356"/>
                  </a:lnTo>
                  <a:lnTo>
                    <a:pt x="1231399" y="1214436"/>
                  </a:lnTo>
                  <a:lnTo>
                    <a:pt x="1235962" y="1166010"/>
                  </a:lnTo>
                  <a:lnTo>
                    <a:pt x="1235962" y="1042615"/>
                  </a:lnTo>
                  <a:lnTo>
                    <a:pt x="1326448" y="1042615"/>
                  </a:lnTo>
                  <a:lnTo>
                    <a:pt x="1342533" y="1036446"/>
                  </a:lnTo>
                  <a:lnTo>
                    <a:pt x="392793" y="1036446"/>
                  </a:lnTo>
                  <a:lnTo>
                    <a:pt x="368115" y="985031"/>
                  </a:lnTo>
                  <a:lnTo>
                    <a:pt x="361012" y="982975"/>
                  </a:lnTo>
                  <a:lnTo>
                    <a:pt x="269402" y="982975"/>
                  </a:lnTo>
                  <a:lnTo>
                    <a:pt x="228272" y="941843"/>
                  </a:lnTo>
                  <a:lnTo>
                    <a:pt x="246781" y="888372"/>
                  </a:lnTo>
                  <a:lnTo>
                    <a:pt x="240997" y="877543"/>
                  </a:lnTo>
                  <a:lnTo>
                    <a:pt x="235984" y="866521"/>
                  </a:lnTo>
                  <a:lnTo>
                    <a:pt x="231742" y="855113"/>
                  </a:lnTo>
                  <a:lnTo>
                    <a:pt x="228272" y="843127"/>
                  </a:lnTo>
                  <a:lnTo>
                    <a:pt x="176859" y="818449"/>
                  </a:lnTo>
                  <a:lnTo>
                    <a:pt x="176859" y="760864"/>
                  </a:lnTo>
                  <a:lnTo>
                    <a:pt x="228272" y="736185"/>
                  </a:lnTo>
                  <a:lnTo>
                    <a:pt x="231742" y="724199"/>
                  </a:lnTo>
                  <a:lnTo>
                    <a:pt x="235984" y="712792"/>
                  </a:lnTo>
                  <a:lnTo>
                    <a:pt x="240997" y="701770"/>
                  </a:lnTo>
                  <a:lnTo>
                    <a:pt x="246781" y="690941"/>
                  </a:lnTo>
                  <a:lnTo>
                    <a:pt x="228272" y="637470"/>
                  </a:lnTo>
                  <a:lnTo>
                    <a:pt x="269402" y="596338"/>
                  </a:lnTo>
                  <a:lnTo>
                    <a:pt x="368115" y="596338"/>
                  </a:lnTo>
                  <a:lnTo>
                    <a:pt x="392793" y="544924"/>
                  </a:lnTo>
                  <a:lnTo>
                    <a:pt x="503844" y="544924"/>
                  </a:lnTo>
                  <a:lnTo>
                    <a:pt x="485336" y="526415"/>
                  </a:lnTo>
                  <a:lnTo>
                    <a:pt x="503844" y="472944"/>
                  </a:lnTo>
                  <a:lnTo>
                    <a:pt x="498061" y="462114"/>
                  </a:lnTo>
                  <a:lnTo>
                    <a:pt x="493048" y="451093"/>
                  </a:lnTo>
                  <a:lnTo>
                    <a:pt x="488806" y="439685"/>
                  </a:lnTo>
                  <a:lnTo>
                    <a:pt x="485336" y="427699"/>
                  </a:lnTo>
                  <a:lnTo>
                    <a:pt x="433923" y="403020"/>
                  </a:lnTo>
                  <a:lnTo>
                    <a:pt x="433923" y="345436"/>
                  </a:lnTo>
                  <a:lnTo>
                    <a:pt x="485336" y="320757"/>
                  </a:lnTo>
                  <a:lnTo>
                    <a:pt x="488806" y="308771"/>
                  </a:lnTo>
                  <a:lnTo>
                    <a:pt x="493048" y="297363"/>
                  </a:lnTo>
                  <a:lnTo>
                    <a:pt x="498061" y="286341"/>
                  </a:lnTo>
                  <a:lnTo>
                    <a:pt x="503844" y="275512"/>
                  </a:lnTo>
                  <a:lnTo>
                    <a:pt x="487392" y="222041"/>
                  </a:lnTo>
                  <a:lnTo>
                    <a:pt x="528523" y="180910"/>
                  </a:lnTo>
                  <a:lnTo>
                    <a:pt x="627235" y="180910"/>
                  </a:lnTo>
                  <a:lnTo>
                    <a:pt x="651913" y="129564"/>
                  </a:lnTo>
                  <a:lnTo>
                    <a:pt x="995967" y="129564"/>
                  </a:lnTo>
                  <a:lnTo>
                    <a:pt x="974276" y="112900"/>
                  </a:lnTo>
                  <a:lnTo>
                    <a:pt x="933655" y="86376"/>
                  </a:lnTo>
                  <a:lnTo>
                    <a:pt x="891131" y="63460"/>
                  </a:lnTo>
                  <a:lnTo>
                    <a:pt x="847420" y="44069"/>
                  </a:lnTo>
                  <a:lnTo>
                    <a:pt x="802719" y="28204"/>
                  </a:lnTo>
                  <a:lnTo>
                    <a:pt x="757227" y="15865"/>
                  </a:lnTo>
                  <a:lnTo>
                    <a:pt x="711141" y="7051"/>
                  </a:lnTo>
                  <a:lnTo>
                    <a:pt x="664660" y="1762"/>
                  </a:lnTo>
                  <a:lnTo>
                    <a:pt x="617981" y="0"/>
                  </a:lnTo>
                  <a:close/>
                </a:path>
                <a:path w="1398270" h="1659889">
                  <a:moveTo>
                    <a:pt x="518240" y="968579"/>
                  </a:moveTo>
                  <a:lnTo>
                    <a:pt x="507411" y="974363"/>
                  </a:lnTo>
                  <a:lnTo>
                    <a:pt x="496390" y="979376"/>
                  </a:lnTo>
                  <a:lnTo>
                    <a:pt x="484982" y="983617"/>
                  </a:lnTo>
                  <a:lnTo>
                    <a:pt x="472997" y="987088"/>
                  </a:lnTo>
                  <a:lnTo>
                    <a:pt x="450375" y="1036446"/>
                  </a:lnTo>
                  <a:lnTo>
                    <a:pt x="1342533" y="1036446"/>
                  </a:lnTo>
                  <a:lnTo>
                    <a:pt x="1363980" y="1028219"/>
                  </a:lnTo>
                  <a:lnTo>
                    <a:pt x="1390714" y="996857"/>
                  </a:lnTo>
                  <a:lnTo>
                    <a:pt x="1392352" y="987088"/>
                  </a:lnTo>
                  <a:lnTo>
                    <a:pt x="571709" y="987088"/>
                  </a:lnTo>
                  <a:lnTo>
                    <a:pt x="518240" y="968579"/>
                  </a:lnTo>
                  <a:close/>
                </a:path>
                <a:path w="1398270" h="1659889">
                  <a:moveTo>
                    <a:pt x="638998" y="596338"/>
                  </a:moveTo>
                  <a:lnTo>
                    <a:pt x="575822" y="596338"/>
                  </a:lnTo>
                  <a:lnTo>
                    <a:pt x="616953" y="637470"/>
                  </a:lnTo>
                  <a:lnTo>
                    <a:pt x="598444" y="690941"/>
                  </a:lnTo>
                  <a:lnTo>
                    <a:pt x="604228" y="701770"/>
                  </a:lnTo>
                  <a:lnTo>
                    <a:pt x="609241" y="712792"/>
                  </a:lnTo>
                  <a:lnTo>
                    <a:pt x="613482" y="724199"/>
                  </a:lnTo>
                  <a:lnTo>
                    <a:pt x="616953" y="736185"/>
                  </a:lnTo>
                  <a:lnTo>
                    <a:pt x="668365" y="760864"/>
                  </a:lnTo>
                  <a:lnTo>
                    <a:pt x="666309" y="822562"/>
                  </a:lnTo>
                  <a:lnTo>
                    <a:pt x="614896" y="847241"/>
                  </a:lnTo>
                  <a:lnTo>
                    <a:pt x="611426" y="859227"/>
                  </a:lnTo>
                  <a:lnTo>
                    <a:pt x="607184" y="870634"/>
                  </a:lnTo>
                  <a:lnTo>
                    <a:pt x="602171" y="881656"/>
                  </a:lnTo>
                  <a:lnTo>
                    <a:pt x="596387" y="892485"/>
                  </a:lnTo>
                  <a:lnTo>
                    <a:pt x="612839" y="945956"/>
                  </a:lnTo>
                  <a:lnTo>
                    <a:pt x="571709" y="987088"/>
                  </a:lnTo>
                  <a:lnTo>
                    <a:pt x="1392352" y="987088"/>
                  </a:lnTo>
                  <a:lnTo>
                    <a:pt x="1398169" y="952383"/>
                  </a:lnTo>
                  <a:lnTo>
                    <a:pt x="1377861" y="898655"/>
                  </a:lnTo>
                  <a:lnTo>
                    <a:pt x="1235962" y="651866"/>
                  </a:lnTo>
                  <a:lnTo>
                    <a:pt x="1235900" y="618961"/>
                  </a:lnTo>
                  <a:lnTo>
                    <a:pt x="649857" y="618961"/>
                  </a:lnTo>
                  <a:lnTo>
                    <a:pt x="638998" y="596338"/>
                  </a:lnTo>
                  <a:close/>
                </a:path>
                <a:path w="1398270" h="1659889">
                  <a:moveTo>
                    <a:pt x="322872" y="966522"/>
                  </a:moveTo>
                  <a:lnTo>
                    <a:pt x="269402" y="982975"/>
                  </a:lnTo>
                  <a:lnTo>
                    <a:pt x="361012" y="982975"/>
                  </a:lnTo>
                  <a:lnTo>
                    <a:pt x="356129" y="981561"/>
                  </a:lnTo>
                  <a:lnTo>
                    <a:pt x="344722" y="977319"/>
                  </a:lnTo>
                  <a:lnTo>
                    <a:pt x="333700" y="972306"/>
                  </a:lnTo>
                  <a:lnTo>
                    <a:pt x="322872" y="966522"/>
                  </a:lnTo>
                  <a:close/>
                </a:path>
                <a:path w="1398270" h="1659889">
                  <a:moveTo>
                    <a:pt x="777360" y="551094"/>
                  </a:moveTo>
                  <a:lnTo>
                    <a:pt x="766531" y="556878"/>
                  </a:lnTo>
                  <a:lnTo>
                    <a:pt x="755510" y="561891"/>
                  </a:lnTo>
                  <a:lnTo>
                    <a:pt x="744103" y="566132"/>
                  </a:lnTo>
                  <a:lnTo>
                    <a:pt x="732117" y="569603"/>
                  </a:lnTo>
                  <a:lnTo>
                    <a:pt x="707439" y="618961"/>
                  </a:lnTo>
                  <a:lnTo>
                    <a:pt x="1235900" y="618961"/>
                  </a:lnTo>
                  <a:lnTo>
                    <a:pt x="1235852" y="593356"/>
                  </a:lnTo>
                  <a:lnTo>
                    <a:pt x="1233960" y="569603"/>
                  </a:lnTo>
                  <a:lnTo>
                    <a:pt x="830830" y="569603"/>
                  </a:lnTo>
                  <a:lnTo>
                    <a:pt x="777360" y="551094"/>
                  </a:lnTo>
                  <a:close/>
                </a:path>
                <a:path w="1398270" h="1659889">
                  <a:moveTo>
                    <a:pt x="368115" y="596338"/>
                  </a:moveTo>
                  <a:lnTo>
                    <a:pt x="269402" y="596338"/>
                  </a:lnTo>
                  <a:lnTo>
                    <a:pt x="322872" y="614847"/>
                  </a:lnTo>
                  <a:lnTo>
                    <a:pt x="333700" y="609063"/>
                  </a:lnTo>
                  <a:lnTo>
                    <a:pt x="344722" y="604050"/>
                  </a:lnTo>
                  <a:lnTo>
                    <a:pt x="356129" y="599809"/>
                  </a:lnTo>
                  <a:lnTo>
                    <a:pt x="368115" y="596338"/>
                  </a:lnTo>
                  <a:close/>
                </a:path>
                <a:path w="1398270" h="1659889">
                  <a:moveTo>
                    <a:pt x="503844" y="544924"/>
                  </a:moveTo>
                  <a:lnTo>
                    <a:pt x="452432" y="544924"/>
                  </a:lnTo>
                  <a:lnTo>
                    <a:pt x="477110" y="596338"/>
                  </a:lnTo>
                  <a:lnTo>
                    <a:pt x="489095" y="599809"/>
                  </a:lnTo>
                  <a:lnTo>
                    <a:pt x="500503" y="604050"/>
                  </a:lnTo>
                  <a:lnTo>
                    <a:pt x="511524" y="609063"/>
                  </a:lnTo>
                  <a:lnTo>
                    <a:pt x="522353" y="614847"/>
                  </a:lnTo>
                  <a:lnTo>
                    <a:pt x="575822" y="596338"/>
                  </a:lnTo>
                  <a:lnTo>
                    <a:pt x="638998" y="596338"/>
                  </a:lnTo>
                  <a:lnTo>
                    <a:pt x="625179" y="567546"/>
                  </a:lnTo>
                  <a:lnTo>
                    <a:pt x="526466" y="567546"/>
                  </a:lnTo>
                  <a:lnTo>
                    <a:pt x="503844" y="544924"/>
                  </a:lnTo>
                  <a:close/>
                </a:path>
                <a:path w="1398270" h="1659889">
                  <a:moveTo>
                    <a:pt x="1052474" y="178853"/>
                  </a:moveTo>
                  <a:lnTo>
                    <a:pt x="832886" y="178853"/>
                  </a:lnTo>
                  <a:lnTo>
                    <a:pt x="874016" y="219985"/>
                  </a:lnTo>
                  <a:lnTo>
                    <a:pt x="855508" y="273456"/>
                  </a:lnTo>
                  <a:lnTo>
                    <a:pt x="861292" y="284285"/>
                  </a:lnTo>
                  <a:lnTo>
                    <a:pt x="866304" y="295307"/>
                  </a:lnTo>
                  <a:lnTo>
                    <a:pt x="870546" y="306714"/>
                  </a:lnTo>
                  <a:lnTo>
                    <a:pt x="874016" y="318700"/>
                  </a:lnTo>
                  <a:lnTo>
                    <a:pt x="925429" y="343379"/>
                  </a:lnTo>
                  <a:lnTo>
                    <a:pt x="925429" y="405077"/>
                  </a:lnTo>
                  <a:lnTo>
                    <a:pt x="874016" y="429756"/>
                  </a:lnTo>
                  <a:lnTo>
                    <a:pt x="870225" y="441742"/>
                  </a:lnTo>
                  <a:lnTo>
                    <a:pt x="865276" y="453149"/>
                  </a:lnTo>
                  <a:lnTo>
                    <a:pt x="859556" y="464171"/>
                  </a:lnTo>
                  <a:lnTo>
                    <a:pt x="853451" y="475000"/>
                  </a:lnTo>
                  <a:lnTo>
                    <a:pt x="871960" y="528471"/>
                  </a:lnTo>
                  <a:lnTo>
                    <a:pt x="830830" y="569603"/>
                  </a:lnTo>
                  <a:lnTo>
                    <a:pt x="1233960" y="569603"/>
                  </a:lnTo>
                  <a:lnTo>
                    <a:pt x="1224677" y="498927"/>
                  </a:lnTo>
                  <a:lnTo>
                    <a:pt x="1213820" y="453149"/>
                  </a:lnTo>
                  <a:lnTo>
                    <a:pt x="1199527" y="408366"/>
                  </a:lnTo>
                  <a:lnTo>
                    <a:pt x="1181947" y="364976"/>
                  </a:lnTo>
                  <a:lnTo>
                    <a:pt x="1161156" y="323079"/>
                  </a:lnTo>
                  <a:lnTo>
                    <a:pt x="1137250" y="282852"/>
                  </a:lnTo>
                  <a:lnTo>
                    <a:pt x="1110321" y="244470"/>
                  </a:lnTo>
                  <a:lnTo>
                    <a:pt x="1080465" y="208108"/>
                  </a:lnTo>
                  <a:lnTo>
                    <a:pt x="1052474" y="178853"/>
                  </a:lnTo>
                  <a:close/>
                </a:path>
                <a:path w="1398270" h="1659889">
                  <a:moveTo>
                    <a:pt x="579935" y="549037"/>
                  </a:moveTo>
                  <a:lnTo>
                    <a:pt x="526466" y="567546"/>
                  </a:lnTo>
                  <a:lnTo>
                    <a:pt x="625179" y="567546"/>
                  </a:lnTo>
                  <a:lnTo>
                    <a:pt x="613193" y="564076"/>
                  </a:lnTo>
                  <a:lnTo>
                    <a:pt x="601786" y="559834"/>
                  </a:lnTo>
                  <a:lnTo>
                    <a:pt x="590764" y="554821"/>
                  </a:lnTo>
                  <a:lnTo>
                    <a:pt x="579935" y="549037"/>
                  </a:lnTo>
                  <a:close/>
                </a:path>
                <a:path w="1398270" h="1659889">
                  <a:moveTo>
                    <a:pt x="627235" y="180910"/>
                  </a:moveTo>
                  <a:lnTo>
                    <a:pt x="528523" y="180910"/>
                  </a:lnTo>
                  <a:lnTo>
                    <a:pt x="581992" y="199419"/>
                  </a:lnTo>
                  <a:lnTo>
                    <a:pt x="592821" y="193635"/>
                  </a:lnTo>
                  <a:lnTo>
                    <a:pt x="603842" y="188622"/>
                  </a:lnTo>
                  <a:lnTo>
                    <a:pt x="615249" y="184380"/>
                  </a:lnTo>
                  <a:lnTo>
                    <a:pt x="627235" y="180910"/>
                  </a:lnTo>
                  <a:close/>
                </a:path>
                <a:path w="1398270" h="1659889">
                  <a:moveTo>
                    <a:pt x="995967" y="129564"/>
                  </a:moveTo>
                  <a:lnTo>
                    <a:pt x="709495" y="129564"/>
                  </a:lnTo>
                  <a:lnTo>
                    <a:pt x="734174" y="178853"/>
                  </a:lnTo>
                  <a:lnTo>
                    <a:pt x="746159" y="182324"/>
                  </a:lnTo>
                  <a:lnTo>
                    <a:pt x="757566" y="186565"/>
                  </a:lnTo>
                  <a:lnTo>
                    <a:pt x="768588" y="191578"/>
                  </a:lnTo>
                  <a:lnTo>
                    <a:pt x="779417" y="197362"/>
                  </a:lnTo>
                  <a:lnTo>
                    <a:pt x="832886" y="178853"/>
                  </a:lnTo>
                  <a:lnTo>
                    <a:pt x="1052474" y="178853"/>
                  </a:lnTo>
                  <a:lnTo>
                    <a:pt x="1047776" y="173942"/>
                  </a:lnTo>
                  <a:lnTo>
                    <a:pt x="1012348" y="142148"/>
                  </a:lnTo>
                  <a:lnTo>
                    <a:pt x="995967" y="129564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8740" y="2849992"/>
              <a:ext cx="1398270" cy="1659889"/>
            </a:xfrm>
            <a:custGeom>
              <a:avLst/>
              <a:gdLst/>
              <a:ahLst/>
              <a:cxnLst/>
              <a:rect l="l" t="t" r="r" b="b"/>
              <a:pathLst>
                <a:path w="1398270" h="1659889">
                  <a:moveTo>
                    <a:pt x="925429" y="405077"/>
                  </a:moveTo>
                  <a:lnTo>
                    <a:pt x="874016" y="429755"/>
                  </a:lnTo>
                  <a:lnTo>
                    <a:pt x="870225" y="441741"/>
                  </a:lnTo>
                  <a:lnTo>
                    <a:pt x="865276" y="453149"/>
                  </a:lnTo>
                  <a:lnTo>
                    <a:pt x="859556" y="464171"/>
                  </a:lnTo>
                  <a:lnTo>
                    <a:pt x="853451" y="475000"/>
                  </a:lnTo>
                  <a:lnTo>
                    <a:pt x="871960" y="528471"/>
                  </a:lnTo>
                  <a:lnTo>
                    <a:pt x="830830" y="569603"/>
                  </a:lnTo>
                  <a:lnTo>
                    <a:pt x="777360" y="551094"/>
                  </a:lnTo>
                  <a:lnTo>
                    <a:pt x="766532" y="556878"/>
                  </a:lnTo>
                  <a:lnTo>
                    <a:pt x="755510" y="561891"/>
                  </a:lnTo>
                  <a:lnTo>
                    <a:pt x="744103" y="566132"/>
                  </a:lnTo>
                  <a:lnTo>
                    <a:pt x="732117" y="569603"/>
                  </a:lnTo>
                  <a:lnTo>
                    <a:pt x="707439" y="618961"/>
                  </a:lnTo>
                  <a:lnTo>
                    <a:pt x="649857" y="618961"/>
                  </a:lnTo>
                  <a:lnTo>
                    <a:pt x="625179" y="567546"/>
                  </a:lnTo>
                  <a:lnTo>
                    <a:pt x="613193" y="564076"/>
                  </a:lnTo>
                  <a:lnTo>
                    <a:pt x="601786" y="559834"/>
                  </a:lnTo>
                  <a:lnTo>
                    <a:pt x="590764" y="554821"/>
                  </a:lnTo>
                  <a:lnTo>
                    <a:pt x="579935" y="549037"/>
                  </a:lnTo>
                  <a:lnTo>
                    <a:pt x="526466" y="567546"/>
                  </a:lnTo>
                  <a:lnTo>
                    <a:pt x="485336" y="526415"/>
                  </a:lnTo>
                  <a:lnTo>
                    <a:pt x="503844" y="472944"/>
                  </a:lnTo>
                  <a:lnTo>
                    <a:pt x="498061" y="462114"/>
                  </a:lnTo>
                  <a:lnTo>
                    <a:pt x="493048" y="451092"/>
                  </a:lnTo>
                  <a:lnTo>
                    <a:pt x="488806" y="439685"/>
                  </a:lnTo>
                  <a:lnTo>
                    <a:pt x="485336" y="427699"/>
                  </a:lnTo>
                  <a:lnTo>
                    <a:pt x="433923" y="403020"/>
                  </a:lnTo>
                  <a:lnTo>
                    <a:pt x="433923" y="345436"/>
                  </a:lnTo>
                  <a:lnTo>
                    <a:pt x="485336" y="320757"/>
                  </a:lnTo>
                  <a:lnTo>
                    <a:pt x="488806" y="308771"/>
                  </a:lnTo>
                  <a:lnTo>
                    <a:pt x="493048" y="297363"/>
                  </a:lnTo>
                  <a:lnTo>
                    <a:pt x="498061" y="286341"/>
                  </a:lnTo>
                  <a:lnTo>
                    <a:pt x="503844" y="275512"/>
                  </a:lnTo>
                  <a:lnTo>
                    <a:pt x="487392" y="222041"/>
                  </a:lnTo>
                  <a:lnTo>
                    <a:pt x="528523" y="180910"/>
                  </a:lnTo>
                  <a:lnTo>
                    <a:pt x="581992" y="199419"/>
                  </a:lnTo>
                  <a:lnTo>
                    <a:pt x="592821" y="193635"/>
                  </a:lnTo>
                  <a:lnTo>
                    <a:pt x="603842" y="188622"/>
                  </a:lnTo>
                  <a:lnTo>
                    <a:pt x="615249" y="184380"/>
                  </a:lnTo>
                  <a:lnTo>
                    <a:pt x="627235" y="180910"/>
                  </a:lnTo>
                  <a:lnTo>
                    <a:pt x="651913" y="129564"/>
                  </a:lnTo>
                  <a:lnTo>
                    <a:pt x="709495" y="129564"/>
                  </a:lnTo>
                  <a:lnTo>
                    <a:pt x="734174" y="178853"/>
                  </a:lnTo>
                  <a:lnTo>
                    <a:pt x="746159" y="182324"/>
                  </a:lnTo>
                  <a:lnTo>
                    <a:pt x="757566" y="186565"/>
                  </a:lnTo>
                  <a:lnTo>
                    <a:pt x="768588" y="191578"/>
                  </a:lnTo>
                  <a:lnTo>
                    <a:pt x="779417" y="197362"/>
                  </a:lnTo>
                  <a:lnTo>
                    <a:pt x="832886" y="178853"/>
                  </a:lnTo>
                  <a:lnTo>
                    <a:pt x="874016" y="219985"/>
                  </a:lnTo>
                  <a:lnTo>
                    <a:pt x="855508" y="273456"/>
                  </a:lnTo>
                  <a:lnTo>
                    <a:pt x="861292" y="284285"/>
                  </a:lnTo>
                  <a:lnTo>
                    <a:pt x="866304" y="295307"/>
                  </a:lnTo>
                  <a:lnTo>
                    <a:pt x="870546" y="306714"/>
                  </a:lnTo>
                  <a:lnTo>
                    <a:pt x="874016" y="318700"/>
                  </a:lnTo>
                  <a:lnTo>
                    <a:pt x="925429" y="343379"/>
                  </a:lnTo>
                  <a:lnTo>
                    <a:pt x="925429" y="405077"/>
                  </a:lnTo>
                  <a:close/>
                </a:path>
                <a:path w="1398270" h="1659889">
                  <a:moveTo>
                    <a:pt x="666309" y="822562"/>
                  </a:moveTo>
                  <a:lnTo>
                    <a:pt x="614896" y="847241"/>
                  </a:lnTo>
                  <a:lnTo>
                    <a:pt x="611426" y="859227"/>
                  </a:lnTo>
                  <a:lnTo>
                    <a:pt x="607184" y="870634"/>
                  </a:lnTo>
                  <a:lnTo>
                    <a:pt x="602171" y="881656"/>
                  </a:lnTo>
                  <a:lnTo>
                    <a:pt x="596387" y="892485"/>
                  </a:lnTo>
                  <a:lnTo>
                    <a:pt x="612840" y="945956"/>
                  </a:lnTo>
                  <a:lnTo>
                    <a:pt x="571709" y="987088"/>
                  </a:lnTo>
                  <a:lnTo>
                    <a:pt x="518240" y="968579"/>
                  </a:lnTo>
                  <a:lnTo>
                    <a:pt x="507411" y="974363"/>
                  </a:lnTo>
                  <a:lnTo>
                    <a:pt x="496390" y="979376"/>
                  </a:lnTo>
                  <a:lnTo>
                    <a:pt x="484982" y="983617"/>
                  </a:lnTo>
                  <a:lnTo>
                    <a:pt x="472997" y="987088"/>
                  </a:lnTo>
                  <a:lnTo>
                    <a:pt x="450375" y="1036446"/>
                  </a:lnTo>
                  <a:lnTo>
                    <a:pt x="392793" y="1036446"/>
                  </a:lnTo>
                  <a:lnTo>
                    <a:pt x="368115" y="985031"/>
                  </a:lnTo>
                  <a:lnTo>
                    <a:pt x="356129" y="981561"/>
                  </a:lnTo>
                  <a:lnTo>
                    <a:pt x="344722" y="977319"/>
                  </a:lnTo>
                  <a:lnTo>
                    <a:pt x="333700" y="972306"/>
                  </a:lnTo>
                  <a:lnTo>
                    <a:pt x="322872" y="966522"/>
                  </a:lnTo>
                  <a:lnTo>
                    <a:pt x="269402" y="982975"/>
                  </a:lnTo>
                  <a:lnTo>
                    <a:pt x="228272" y="941843"/>
                  </a:lnTo>
                  <a:lnTo>
                    <a:pt x="246781" y="888372"/>
                  </a:lnTo>
                  <a:lnTo>
                    <a:pt x="240997" y="877543"/>
                  </a:lnTo>
                  <a:lnTo>
                    <a:pt x="235984" y="866521"/>
                  </a:lnTo>
                  <a:lnTo>
                    <a:pt x="231742" y="855113"/>
                  </a:lnTo>
                  <a:lnTo>
                    <a:pt x="228272" y="843127"/>
                  </a:lnTo>
                  <a:lnTo>
                    <a:pt x="176859" y="818449"/>
                  </a:lnTo>
                  <a:lnTo>
                    <a:pt x="176859" y="760864"/>
                  </a:lnTo>
                  <a:lnTo>
                    <a:pt x="228272" y="736185"/>
                  </a:lnTo>
                  <a:lnTo>
                    <a:pt x="231742" y="724199"/>
                  </a:lnTo>
                  <a:lnTo>
                    <a:pt x="235984" y="712792"/>
                  </a:lnTo>
                  <a:lnTo>
                    <a:pt x="240997" y="701770"/>
                  </a:lnTo>
                  <a:lnTo>
                    <a:pt x="246781" y="690941"/>
                  </a:lnTo>
                  <a:lnTo>
                    <a:pt x="228272" y="637470"/>
                  </a:lnTo>
                  <a:lnTo>
                    <a:pt x="269402" y="596338"/>
                  </a:lnTo>
                  <a:lnTo>
                    <a:pt x="322872" y="614847"/>
                  </a:lnTo>
                  <a:lnTo>
                    <a:pt x="333700" y="609063"/>
                  </a:lnTo>
                  <a:lnTo>
                    <a:pt x="344722" y="604050"/>
                  </a:lnTo>
                  <a:lnTo>
                    <a:pt x="356129" y="599809"/>
                  </a:lnTo>
                  <a:lnTo>
                    <a:pt x="368115" y="596338"/>
                  </a:lnTo>
                  <a:lnTo>
                    <a:pt x="392793" y="544924"/>
                  </a:lnTo>
                  <a:lnTo>
                    <a:pt x="452432" y="544924"/>
                  </a:lnTo>
                  <a:lnTo>
                    <a:pt x="477110" y="596338"/>
                  </a:lnTo>
                  <a:lnTo>
                    <a:pt x="489095" y="599809"/>
                  </a:lnTo>
                  <a:lnTo>
                    <a:pt x="500503" y="604050"/>
                  </a:lnTo>
                  <a:lnTo>
                    <a:pt x="511524" y="609063"/>
                  </a:lnTo>
                  <a:lnTo>
                    <a:pt x="522353" y="614847"/>
                  </a:lnTo>
                  <a:lnTo>
                    <a:pt x="575822" y="596338"/>
                  </a:lnTo>
                  <a:lnTo>
                    <a:pt x="616953" y="637470"/>
                  </a:lnTo>
                  <a:lnTo>
                    <a:pt x="598444" y="690941"/>
                  </a:lnTo>
                  <a:lnTo>
                    <a:pt x="604228" y="701770"/>
                  </a:lnTo>
                  <a:lnTo>
                    <a:pt x="609241" y="712792"/>
                  </a:lnTo>
                  <a:lnTo>
                    <a:pt x="613482" y="724199"/>
                  </a:lnTo>
                  <a:lnTo>
                    <a:pt x="616953" y="736185"/>
                  </a:lnTo>
                  <a:lnTo>
                    <a:pt x="668365" y="760864"/>
                  </a:lnTo>
                  <a:lnTo>
                    <a:pt x="666309" y="822562"/>
                  </a:lnTo>
                  <a:close/>
                </a:path>
                <a:path w="1398270" h="1659889">
                  <a:moveTo>
                    <a:pt x="1377861" y="898655"/>
                  </a:moveTo>
                  <a:lnTo>
                    <a:pt x="1235962" y="651866"/>
                  </a:lnTo>
                  <a:lnTo>
                    <a:pt x="1235962" y="641583"/>
                  </a:lnTo>
                  <a:lnTo>
                    <a:pt x="1235852" y="593356"/>
                  </a:lnTo>
                  <a:lnTo>
                    <a:pt x="1232059" y="545745"/>
                  </a:lnTo>
                  <a:lnTo>
                    <a:pt x="1224677" y="498927"/>
                  </a:lnTo>
                  <a:lnTo>
                    <a:pt x="1213802" y="453075"/>
                  </a:lnTo>
                  <a:lnTo>
                    <a:pt x="1199527" y="408366"/>
                  </a:lnTo>
                  <a:lnTo>
                    <a:pt x="1181947" y="364976"/>
                  </a:lnTo>
                  <a:lnTo>
                    <a:pt x="1161157" y="323079"/>
                  </a:lnTo>
                  <a:lnTo>
                    <a:pt x="1137250" y="282852"/>
                  </a:lnTo>
                  <a:lnTo>
                    <a:pt x="1110321" y="244470"/>
                  </a:lnTo>
                  <a:lnTo>
                    <a:pt x="1080465" y="208108"/>
                  </a:lnTo>
                  <a:lnTo>
                    <a:pt x="1047776" y="173942"/>
                  </a:lnTo>
                  <a:lnTo>
                    <a:pt x="1012348" y="142148"/>
                  </a:lnTo>
                  <a:lnTo>
                    <a:pt x="974276" y="112900"/>
                  </a:lnTo>
                  <a:lnTo>
                    <a:pt x="933655" y="86376"/>
                  </a:lnTo>
                  <a:lnTo>
                    <a:pt x="891131" y="63460"/>
                  </a:lnTo>
                  <a:lnTo>
                    <a:pt x="847420" y="44069"/>
                  </a:lnTo>
                  <a:lnTo>
                    <a:pt x="802719" y="28204"/>
                  </a:lnTo>
                  <a:lnTo>
                    <a:pt x="757227" y="15865"/>
                  </a:lnTo>
                  <a:lnTo>
                    <a:pt x="711141" y="7051"/>
                  </a:lnTo>
                  <a:lnTo>
                    <a:pt x="664660" y="1762"/>
                  </a:lnTo>
                  <a:lnTo>
                    <a:pt x="617981" y="0"/>
                  </a:lnTo>
                  <a:lnTo>
                    <a:pt x="571302" y="1762"/>
                  </a:lnTo>
                  <a:lnTo>
                    <a:pt x="524820" y="7051"/>
                  </a:lnTo>
                  <a:lnTo>
                    <a:pt x="478735" y="15865"/>
                  </a:lnTo>
                  <a:lnTo>
                    <a:pt x="433243" y="28204"/>
                  </a:lnTo>
                  <a:lnTo>
                    <a:pt x="388542" y="44069"/>
                  </a:lnTo>
                  <a:lnTo>
                    <a:pt x="344831" y="63460"/>
                  </a:lnTo>
                  <a:lnTo>
                    <a:pt x="302306" y="86376"/>
                  </a:lnTo>
                  <a:lnTo>
                    <a:pt x="261685" y="112520"/>
                  </a:lnTo>
                  <a:lnTo>
                    <a:pt x="223613" y="141500"/>
                  </a:lnTo>
                  <a:lnTo>
                    <a:pt x="188186" y="173126"/>
                  </a:lnTo>
                  <a:lnTo>
                    <a:pt x="155497" y="207209"/>
                  </a:lnTo>
                  <a:lnTo>
                    <a:pt x="125641" y="243559"/>
                  </a:lnTo>
                  <a:lnTo>
                    <a:pt x="98712" y="281989"/>
                  </a:lnTo>
                  <a:lnTo>
                    <a:pt x="74805" y="322308"/>
                  </a:lnTo>
                  <a:lnTo>
                    <a:pt x="54014" y="364328"/>
                  </a:lnTo>
                  <a:lnTo>
                    <a:pt x="36434" y="407860"/>
                  </a:lnTo>
                  <a:lnTo>
                    <a:pt x="22159" y="452715"/>
                  </a:lnTo>
                  <a:lnTo>
                    <a:pt x="11284" y="498704"/>
                  </a:lnTo>
                  <a:lnTo>
                    <a:pt x="3903" y="545638"/>
                  </a:lnTo>
                  <a:lnTo>
                    <a:pt x="110" y="593327"/>
                  </a:lnTo>
                  <a:lnTo>
                    <a:pt x="0" y="641583"/>
                  </a:lnTo>
                  <a:lnTo>
                    <a:pt x="1829" y="690140"/>
                  </a:lnTo>
                  <a:lnTo>
                    <a:pt x="7264" y="738004"/>
                  </a:lnTo>
                  <a:lnTo>
                    <a:pt x="16227" y="784997"/>
                  </a:lnTo>
                  <a:lnTo>
                    <a:pt x="28638" y="830940"/>
                  </a:lnTo>
                  <a:lnTo>
                    <a:pt x="44420" y="875655"/>
                  </a:lnTo>
                  <a:lnTo>
                    <a:pt x="63494" y="918964"/>
                  </a:lnTo>
                  <a:lnTo>
                    <a:pt x="85781" y="960687"/>
                  </a:lnTo>
                  <a:lnTo>
                    <a:pt x="111203" y="1000646"/>
                  </a:lnTo>
                  <a:lnTo>
                    <a:pt x="139682" y="1038663"/>
                  </a:lnTo>
                  <a:lnTo>
                    <a:pt x="171137" y="1074559"/>
                  </a:lnTo>
                  <a:lnTo>
                    <a:pt x="205492" y="1108156"/>
                  </a:lnTo>
                  <a:lnTo>
                    <a:pt x="242668" y="1139274"/>
                  </a:lnTo>
                  <a:lnTo>
                    <a:pt x="242668" y="1659588"/>
                  </a:lnTo>
                  <a:lnTo>
                    <a:pt x="892525" y="1659588"/>
                  </a:lnTo>
                  <a:lnTo>
                    <a:pt x="892525" y="1412799"/>
                  </a:lnTo>
                  <a:lnTo>
                    <a:pt x="993294" y="1412799"/>
                  </a:lnTo>
                  <a:lnTo>
                    <a:pt x="1041686" y="1407915"/>
                  </a:lnTo>
                  <a:lnTo>
                    <a:pt x="1087379" y="1393776"/>
                  </a:lnTo>
                  <a:lnTo>
                    <a:pt x="1129216" y="1371154"/>
                  </a:lnTo>
                  <a:lnTo>
                    <a:pt x="1166041" y="1340819"/>
                  </a:lnTo>
                  <a:lnTo>
                    <a:pt x="1196053" y="1302804"/>
                  </a:lnTo>
                  <a:lnTo>
                    <a:pt x="1217968" y="1260355"/>
                  </a:lnTo>
                  <a:lnTo>
                    <a:pt x="1231399" y="1214436"/>
                  </a:lnTo>
                  <a:lnTo>
                    <a:pt x="1235962" y="1166010"/>
                  </a:lnTo>
                  <a:lnTo>
                    <a:pt x="1235962" y="1042615"/>
                  </a:lnTo>
                  <a:lnTo>
                    <a:pt x="1326449" y="1042615"/>
                  </a:lnTo>
                  <a:lnTo>
                    <a:pt x="1363980" y="1028219"/>
                  </a:lnTo>
                  <a:lnTo>
                    <a:pt x="1390714" y="996857"/>
                  </a:lnTo>
                  <a:lnTo>
                    <a:pt x="1398169" y="952383"/>
                  </a:lnTo>
                  <a:lnTo>
                    <a:pt x="1377861" y="898655"/>
                  </a:lnTo>
                  <a:close/>
                </a:path>
              </a:pathLst>
            </a:custGeom>
            <a:ln w="23993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6722" y="2576746"/>
            <a:ext cx="3116580" cy="20320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1270" algn="ctr">
              <a:lnSpc>
                <a:spcPts val="2230"/>
              </a:lnSpc>
              <a:spcBef>
                <a:spcPts val="320"/>
              </a:spcBef>
            </a:pPr>
            <a:r>
              <a:rPr sz="2000" dirty="0">
                <a:latin typeface="Calibri"/>
                <a:cs typeface="Calibri"/>
              </a:rPr>
              <a:t>The MARGe project </a:t>
            </a:r>
            <a:r>
              <a:rPr sz="2000" spc="-25" dirty="0">
                <a:latin typeface="Calibri"/>
                <a:cs typeface="Calibri"/>
              </a:rPr>
              <a:t>has </a:t>
            </a:r>
            <a:r>
              <a:rPr sz="2000" dirty="0">
                <a:latin typeface="Calibri"/>
                <a:cs typeface="Calibri"/>
              </a:rPr>
              <a:t>evolved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reac- </a:t>
            </a:r>
            <a:r>
              <a:rPr sz="2000" dirty="0">
                <a:latin typeface="Calibri"/>
                <a:cs typeface="Calibri"/>
              </a:rPr>
              <a:t>tive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animation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into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integrated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 </a:t>
            </a:r>
            <a:r>
              <a:rPr sz="2000" dirty="0">
                <a:latin typeface="Calibri"/>
                <a:cs typeface="Calibri"/>
              </a:rPr>
              <a:t>for modeling, simulation,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formal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verification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recon- </a:t>
            </a:r>
            <a:r>
              <a:rPr sz="2000" dirty="0">
                <a:latin typeface="Calibri"/>
                <a:cs typeface="Calibri"/>
              </a:rPr>
              <a:t>figurable </a:t>
            </a:r>
            <a:r>
              <a:rPr sz="2000" spc="-10" dirty="0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24400" y="2097023"/>
            <a:ext cx="4060190" cy="2708275"/>
            <a:chOff x="4724400" y="2097023"/>
            <a:chExt cx="4060190" cy="2708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400" y="2097023"/>
              <a:ext cx="3626358" cy="23340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4544" y="2467355"/>
              <a:ext cx="3630167" cy="23378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6735" y="2788919"/>
              <a:ext cx="3657599" cy="17419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62041" y="2491867"/>
              <a:ext cx="3540125" cy="2247900"/>
            </a:xfrm>
            <a:custGeom>
              <a:avLst/>
              <a:gdLst/>
              <a:ahLst/>
              <a:cxnLst/>
              <a:rect l="l" t="t" r="r" b="b"/>
              <a:pathLst>
                <a:path w="3540125" h="2247900">
                  <a:moveTo>
                    <a:pt x="3315080" y="0"/>
                  </a:moveTo>
                  <a:lnTo>
                    <a:pt x="224789" y="0"/>
                  </a:lnTo>
                  <a:lnTo>
                    <a:pt x="179470" y="4569"/>
                  </a:lnTo>
                  <a:lnTo>
                    <a:pt x="137267" y="17674"/>
                  </a:lnTo>
                  <a:lnTo>
                    <a:pt x="99082" y="38408"/>
                  </a:lnTo>
                  <a:lnTo>
                    <a:pt x="65817" y="65865"/>
                  </a:lnTo>
                  <a:lnTo>
                    <a:pt x="38375" y="99138"/>
                  </a:lnTo>
                  <a:lnTo>
                    <a:pt x="17656" y="137320"/>
                  </a:lnTo>
                  <a:lnTo>
                    <a:pt x="4564" y="179506"/>
                  </a:lnTo>
                  <a:lnTo>
                    <a:pt x="0" y="224789"/>
                  </a:lnTo>
                  <a:lnTo>
                    <a:pt x="0" y="2023109"/>
                  </a:lnTo>
                  <a:lnTo>
                    <a:pt x="4564" y="2068393"/>
                  </a:lnTo>
                  <a:lnTo>
                    <a:pt x="17656" y="2110579"/>
                  </a:lnTo>
                  <a:lnTo>
                    <a:pt x="38375" y="2148761"/>
                  </a:lnTo>
                  <a:lnTo>
                    <a:pt x="65817" y="2182034"/>
                  </a:lnTo>
                  <a:lnTo>
                    <a:pt x="99082" y="2209491"/>
                  </a:lnTo>
                  <a:lnTo>
                    <a:pt x="137267" y="2230225"/>
                  </a:lnTo>
                  <a:lnTo>
                    <a:pt x="179470" y="2243330"/>
                  </a:lnTo>
                  <a:lnTo>
                    <a:pt x="224789" y="2247899"/>
                  </a:lnTo>
                  <a:lnTo>
                    <a:pt x="3315080" y="2247899"/>
                  </a:lnTo>
                  <a:lnTo>
                    <a:pt x="3360400" y="2243330"/>
                  </a:lnTo>
                  <a:lnTo>
                    <a:pt x="3402603" y="2230225"/>
                  </a:lnTo>
                  <a:lnTo>
                    <a:pt x="3440788" y="2209491"/>
                  </a:lnTo>
                  <a:lnTo>
                    <a:pt x="3474053" y="2182034"/>
                  </a:lnTo>
                  <a:lnTo>
                    <a:pt x="3501495" y="2148761"/>
                  </a:lnTo>
                  <a:lnTo>
                    <a:pt x="3522214" y="2110579"/>
                  </a:lnTo>
                  <a:lnTo>
                    <a:pt x="3535306" y="2068393"/>
                  </a:lnTo>
                  <a:lnTo>
                    <a:pt x="3539870" y="2023109"/>
                  </a:lnTo>
                  <a:lnTo>
                    <a:pt x="3539870" y="224789"/>
                  </a:lnTo>
                  <a:lnTo>
                    <a:pt x="3535306" y="179506"/>
                  </a:lnTo>
                  <a:lnTo>
                    <a:pt x="3522214" y="137320"/>
                  </a:lnTo>
                  <a:lnTo>
                    <a:pt x="3501495" y="99138"/>
                  </a:lnTo>
                  <a:lnTo>
                    <a:pt x="3474053" y="65865"/>
                  </a:lnTo>
                  <a:lnTo>
                    <a:pt x="3440788" y="38408"/>
                  </a:lnTo>
                  <a:lnTo>
                    <a:pt x="3402603" y="17674"/>
                  </a:lnTo>
                  <a:lnTo>
                    <a:pt x="3360400" y="4569"/>
                  </a:lnTo>
                  <a:lnTo>
                    <a:pt x="331508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62041" y="2491867"/>
              <a:ext cx="3540125" cy="2247900"/>
            </a:xfrm>
            <a:custGeom>
              <a:avLst/>
              <a:gdLst/>
              <a:ahLst/>
              <a:cxnLst/>
              <a:rect l="l" t="t" r="r" b="b"/>
              <a:pathLst>
                <a:path w="3540125" h="2247900">
                  <a:moveTo>
                    <a:pt x="0" y="224789"/>
                  </a:moveTo>
                  <a:lnTo>
                    <a:pt x="4564" y="179506"/>
                  </a:lnTo>
                  <a:lnTo>
                    <a:pt x="17656" y="137320"/>
                  </a:lnTo>
                  <a:lnTo>
                    <a:pt x="38375" y="99138"/>
                  </a:lnTo>
                  <a:lnTo>
                    <a:pt x="65817" y="65865"/>
                  </a:lnTo>
                  <a:lnTo>
                    <a:pt x="99082" y="38408"/>
                  </a:lnTo>
                  <a:lnTo>
                    <a:pt x="137267" y="17674"/>
                  </a:lnTo>
                  <a:lnTo>
                    <a:pt x="179470" y="4569"/>
                  </a:lnTo>
                  <a:lnTo>
                    <a:pt x="224789" y="0"/>
                  </a:lnTo>
                  <a:lnTo>
                    <a:pt x="3315080" y="0"/>
                  </a:lnTo>
                  <a:lnTo>
                    <a:pt x="3360400" y="4569"/>
                  </a:lnTo>
                  <a:lnTo>
                    <a:pt x="3402603" y="17674"/>
                  </a:lnTo>
                  <a:lnTo>
                    <a:pt x="3440788" y="38408"/>
                  </a:lnTo>
                  <a:lnTo>
                    <a:pt x="3474053" y="65865"/>
                  </a:lnTo>
                  <a:lnTo>
                    <a:pt x="3501495" y="99138"/>
                  </a:lnTo>
                  <a:lnTo>
                    <a:pt x="3522214" y="137320"/>
                  </a:lnTo>
                  <a:lnTo>
                    <a:pt x="3535306" y="179506"/>
                  </a:lnTo>
                  <a:lnTo>
                    <a:pt x="3539870" y="224789"/>
                  </a:lnTo>
                  <a:lnTo>
                    <a:pt x="3539870" y="2023109"/>
                  </a:lnTo>
                  <a:lnTo>
                    <a:pt x="3535306" y="2068393"/>
                  </a:lnTo>
                  <a:lnTo>
                    <a:pt x="3522214" y="2110579"/>
                  </a:lnTo>
                  <a:lnTo>
                    <a:pt x="3501495" y="2148761"/>
                  </a:lnTo>
                  <a:lnTo>
                    <a:pt x="3474053" y="2182034"/>
                  </a:lnTo>
                  <a:lnTo>
                    <a:pt x="3440788" y="2209491"/>
                  </a:lnTo>
                  <a:lnTo>
                    <a:pt x="3402603" y="2230225"/>
                  </a:lnTo>
                  <a:lnTo>
                    <a:pt x="3360400" y="2243330"/>
                  </a:lnTo>
                  <a:lnTo>
                    <a:pt x="3315080" y="2247899"/>
                  </a:lnTo>
                  <a:lnTo>
                    <a:pt x="224789" y="2247899"/>
                  </a:lnTo>
                  <a:lnTo>
                    <a:pt x="179470" y="2243330"/>
                  </a:lnTo>
                  <a:lnTo>
                    <a:pt x="137267" y="2230225"/>
                  </a:lnTo>
                  <a:lnTo>
                    <a:pt x="99082" y="2209491"/>
                  </a:lnTo>
                  <a:lnTo>
                    <a:pt x="65817" y="2182034"/>
                  </a:lnTo>
                  <a:lnTo>
                    <a:pt x="38375" y="2148761"/>
                  </a:lnTo>
                  <a:lnTo>
                    <a:pt x="17656" y="2110579"/>
                  </a:lnTo>
                  <a:lnTo>
                    <a:pt x="4564" y="2068393"/>
                  </a:lnTo>
                  <a:lnTo>
                    <a:pt x="0" y="2023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75155" y="2861818"/>
            <a:ext cx="3117215" cy="11823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59055" algn="just">
              <a:lnSpc>
                <a:spcPts val="2230"/>
              </a:lnSpc>
              <a:spcBef>
                <a:spcPts val="320"/>
              </a:spcBef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evolution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surpassed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incorporating </a:t>
            </a:r>
            <a:r>
              <a:rPr sz="2000" dirty="0">
                <a:latin typeface="Calibri"/>
                <a:cs typeface="Calibri"/>
              </a:rPr>
              <a:t>dynamic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ad- </a:t>
            </a:r>
            <a:r>
              <a:rPr sz="2000" dirty="0">
                <a:latin typeface="Calibri"/>
                <a:cs typeface="Calibri"/>
              </a:rPr>
              <a:t>vanced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semantic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extensions.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69"/>
              <a:ext cx="9143980" cy="68572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247900" marR="5080" indent="-841375">
              <a:lnSpc>
                <a:spcPts val="4840"/>
              </a:lnSpc>
              <a:spcBef>
                <a:spcPts val="635"/>
              </a:spcBef>
            </a:pPr>
            <a:r>
              <a:rPr dirty="0"/>
              <a:t>Fundamental</a:t>
            </a:r>
            <a:r>
              <a:rPr spc="-10" dirty="0"/>
              <a:t> </a:t>
            </a:r>
            <a:r>
              <a:rPr dirty="0"/>
              <a:t>Axes</a:t>
            </a:r>
            <a:r>
              <a:rPr spc="-5" dirty="0"/>
              <a:t> </a:t>
            </a:r>
            <a:r>
              <a:rPr spc="-25" dirty="0"/>
              <a:t>of </a:t>
            </a:r>
            <a:r>
              <a:rPr spc="-10" dirty="0"/>
              <a:t>Contributions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483234">
              <a:lnSpc>
                <a:spcPct val="105300"/>
              </a:lnSpc>
              <a:spcBef>
                <a:spcPts val="100"/>
              </a:spcBef>
              <a:buAutoNum type="arabicPeriod"/>
              <a:tabLst>
                <a:tab pos="495934" algn="l"/>
                <a:tab pos="2112010" algn="l"/>
                <a:tab pos="2620645" algn="l"/>
                <a:tab pos="3315970" algn="l"/>
                <a:tab pos="4167504" algn="l"/>
                <a:tab pos="5840730" algn="l"/>
                <a:tab pos="7134225" algn="l"/>
              </a:tabLst>
            </a:pPr>
            <a:r>
              <a:rPr spc="-10" dirty="0"/>
              <a:t>Extension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core</a:t>
            </a:r>
            <a:r>
              <a:rPr dirty="0"/>
              <a:t>	</a:t>
            </a:r>
            <a:r>
              <a:rPr spc="-10" dirty="0"/>
              <a:t>formalism</a:t>
            </a:r>
            <a:r>
              <a:rPr dirty="0"/>
              <a:t>	</a:t>
            </a:r>
            <a:r>
              <a:rPr spc="-10" dirty="0"/>
              <a:t>(guards</a:t>
            </a:r>
            <a:r>
              <a:rPr dirty="0"/>
              <a:t>	</a:t>
            </a:r>
            <a:r>
              <a:rPr spc="-25" dirty="0"/>
              <a:t>and </a:t>
            </a:r>
            <a:r>
              <a:rPr spc="-10" dirty="0"/>
              <a:t>time)</a:t>
            </a:r>
          </a:p>
          <a:p>
            <a:pPr marL="481330" indent="-468630">
              <a:lnSpc>
                <a:spcPct val="100000"/>
              </a:lnSpc>
              <a:spcBef>
                <a:spcPts val="1839"/>
              </a:spcBef>
              <a:buAutoNum type="arabicPeriod"/>
              <a:tabLst>
                <a:tab pos="481330" algn="l"/>
                <a:tab pos="2483485" algn="l"/>
                <a:tab pos="2979420" algn="l"/>
                <a:tab pos="4135754" algn="l"/>
                <a:tab pos="5960745" algn="l"/>
              </a:tabLst>
            </a:pPr>
            <a:r>
              <a:rPr spc="-10" dirty="0"/>
              <a:t>Introduction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formal</a:t>
            </a:r>
            <a:r>
              <a:rPr dirty="0"/>
              <a:t>	</a:t>
            </a:r>
            <a:r>
              <a:rPr spc="-10" dirty="0"/>
              <a:t>verification</a:t>
            </a:r>
            <a:r>
              <a:rPr dirty="0"/>
              <a:t>	</a:t>
            </a:r>
            <a:r>
              <a:rPr spc="-10" dirty="0"/>
              <a:t>capabilities.</a:t>
            </a:r>
          </a:p>
          <a:p>
            <a:pPr marL="12700" marR="5080" indent="396240">
              <a:lnSpc>
                <a:spcPct val="107100"/>
              </a:lnSpc>
              <a:spcBef>
                <a:spcPts val="1595"/>
              </a:spcBef>
              <a:buAutoNum type="arabicPeriod"/>
              <a:tabLst>
                <a:tab pos="408940" algn="l"/>
                <a:tab pos="1546860" algn="l"/>
                <a:tab pos="3075305" algn="l"/>
                <a:tab pos="3745229" algn="l"/>
                <a:tab pos="6116320" algn="l"/>
                <a:tab pos="6884670" algn="l"/>
              </a:tabLst>
            </a:pPr>
            <a:r>
              <a:rPr spc="-10" dirty="0"/>
              <a:t>Formal</a:t>
            </a:r>
            <a:r>
              <a:rPr dirty="0"/>
              <a:t>	</a:t>
            </a:r>
            <a:r>
              <a:rPr spc="-10" dirty="0"/>
              <a:t>mappings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interoperability</a:t>
            </a:r>
            <a:r>
              <a:rPr dirty="0"/>
              <a:t>	</a:t>
            </a:r>
            <a:r>
              <a:rPr spc="-20" dirty="0"/>
              <a:t>with</a:t>
            </a:r>
            <a:r>
              <a:rPr dirty="0"/>
              <a:t>	</a:t>
            </a:r>
            <a:r>
              <a:rPr spc="-10" dirty="0"/>
              <a:t>other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0"/>
              <a:ext cx="914398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44675" marR="5080" indent="-918210">
              <a:lnSpc>
                <a:spcPts val="4840"/>
              </a:lnSpc>
              <a:spcBef>
                <a:spcPts val="635"/>
              </a:spcBef>
            </a:pPr>
            <a:r>
              <a:rPr dirty="0"/>
              <a:t>Extension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Reactive </a:t>
            </a:r>
            <a:r>
              <a:rPr dirty="0"/>
              <a:t>Graph</a:t>
            </a:r>
            <a:r>
              <a:rPr spc="-35" dirty="0"/>
              <a:t> </a:t>
            </a:r>
            <a:r>
              <a:rPr spc="-10" dirty="0"/>
              <a:t>Formalism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7542" y="1847242"/>
            <a:ext cx="7616190" cy="2491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16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Reactive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Graphs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formalism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expanded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guards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giving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formalisms:</a:t>
            </a:r>
            <a:endParaRPr sz="2800">
              <a:latin typeface="Calibri"/>
              <a:cs typeface="Calibri"/>
            </a:endParaRPr>
          </a:p>
          <a:p>
            <a:pPr marL="469265" marR="1077595" lvl="1" indent="253365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22630" algn="l"/>
              </a:tabLst>
            </a:pPr>
            <a:r>
              <a:rPr sz="2400" dirty="0">
                <a:latin typeface="Calibri"/>
                <a:cs typeface="Calibri"/>
              </a:rPr>
              <a:t>Guarded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Reactive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(GRG):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logical </a:t>
            </a:r>
            <a:r>
              <a:rPr sz="2400" dirty="0">
                <a:latin typeface="Calibri"/>
                <a:cs typeface="Calibri"/>
              </a:rPr>
              <a:t>conditions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atomic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updates.</a:t>
            </a:r>
            <a:endParaRPr sz="2400">
              <a:latin typeface="Calibri"/>
              <a:cs typeface="Calibri"/>
            </a:endParaRPr>
          </a:p>
          <a:p>
            <a:pPr marL="469265" marR="574040" lvl="1" indent="25336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22630" algn="l"/>
              </a:tabLst>
            </a:pPr>
            <a:r>
              <a:rPr sz="2400" dirty="0">
                <a:latin typeface="Calibri"/>
                <a:cs typeface="Calibri"/>
              </a:rPr>
              <a:t>Timed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Reactive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(TRG):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introduce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clocks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temporal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invariants.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0"/>
              <a:ext cx="9143980" cy="68276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15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Guarded</a:t>
            </a:r>
            <a:r>
              <a:rPr spc="-35" dirty="0"/>
              <a:t> </a:t>
            </a:r>
            <a:r>
              <a:rPr dirty="0"/>
              <a:t>Reactive</a:t>
            </a:r>
            <a:r>
              <a:rPr spc="-20" dirty="0"/>
              <a:t> </a:t>
            </a:r>
            <a:r>
              <a:rPr dirty="0"/>
              <a:t>Graphs</a:t>
            </a:r>
            <a:r>
              <a:rPr spc="-15" dirty="0"/>
              <a:t> </a:t>
            </a:r>
            <a:r>
              <a:rPr spc="-10" dirty="0"/>
              <a:t>(GRG)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415796" y="1335023"/>
            <a:ext cx="6310630" cy="5253990"/>
            <a:chOff x="1415796" y="1335023"/>
            <a:chExt cx="6310630" cy="52539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5796" y="3204972"/>
              <a:ext cx="6310121" cy="33840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5796" y="1335023"/>
              <a:ext cx="6310121" cy="1916429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9BFE7D62-CF25-A2F0-20EB-C7A14B4CE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1707196"/>
            <a:ext cx="5172797" cy="145752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766D53F-F911-7A05-04F2-3ED4EA2D6D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3696674"/>
            <a:ext cx="5791200" cy="2400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40"/>
              <a:ext cx="9143980" cy="68579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29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95"/>
              </a:spcBef>
            </a:pPr>
            <a:r>
              <a:rPr sz="4900" dirty="0"/>
              <a:t>Timed</a:t>
            </a:r>
            <a:r>
              <a:rPr sz="4900" spc="-165" dirty="0"/>
              <a:t> </a:t>
            </a:r>
            <a:r>
              <a:rPr sz="4900" dirty="0"/>
              <a:t>Reactive</a:t>
            </a:r>
            <a:r>
              <a:rPr sz="4900" spc="-160" dirty="0"/>
              <a:t> </a:t>
            </a:r>
            <a:r>
              <a:rPr sz="4900" dirty="0"/>
              <a:t>Graphs</a:t>
            </a:r>
            <a:r>
              <a:rPr sz="4900" spc="-165" dirty="0"/>
              <a:t> </a:t>
            </a:r>
            <a:r>
              <a:rPr sz="4900" spc="-10" dirty="0"/>
              <a:t>(TRG)</a:t>
            </a:r>
            <a:endParaRPr sz="49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11" y="2011680"/>
            <a:ext cx="4173473" cy="37360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9600" y="2011680"/>
            <a:ext cx="4626102" cy="3736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0"/>
              <a:ext cx="914398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487930" marR="5080" indent="-2286000">
              <a:lnSpc>
                <a:spcPts val="4840"/>
              </a:lnSpc>
              <a:spcBef>
                <a:spcPts val="635"/>
              </a:spcBef>
            </a:pPr>
            <a:r>
              <a:rPr dirty="0"/>
              <a:t>2.</a:t>
            </a:r>
            <a:r>
              <a:rPr spc="-60" dirty="0"/>
              <a:t> </a:t>
            </a:r>
            <a:r>
              <a:rPr dirty="0"/>
              <a:t>Formal</a:t>
            </a:r>
            <a:r>
              <a:rPr spc="-4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Property Verification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7542" y="1855167"/>
            <a:ext cx="7152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Propositional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Dynamic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(PDL).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9920" y="2700147"/>
            <a:ext cx="5344286" cy="14575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99920" y="4374997"/>
            <a:ext cx="5372861" cy="11145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34B2-6D9B-9F5C-67EF-27EEBE73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1345C70-2859-D3E3-7791-1CD0AFC1912C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E9354D4-F2FF-C0AC-0CA2-8B8E7EBFE3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0"/>
              <a:ext cx="9143980" cy="6857998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6FDDD50-2D41-1633-5DAC-3B598CA09FE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A52AE5C2-8832-B2DC-F6E8-2AD93EA9F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224" y="2464953"/>
            <a:ext cx="7415552" cy="254364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487930" marR="5080" indent="-2286000" algn="ctr">
              <a:lnSpc>
                <a:spcPts val="4840"/>
              </a:lnSpc>
              <a:spcBef>
                <a:spcPts val="635"/>
              </a:spcBef>
            </a:pPr>
            <a:r>
              <a:rPr lang="pt-PT" sz="9600" dirty="0" err="1"/>
              <a:t>Thank</a:t>
            </a:r>
            <a:r>
              <a:rPr lang="pt-PT" sz="9600" dirty="0"/>
              <a:t> </a:t>
            </a:r>
            <a:r>
              <a:rPr lang="pt-PT" sz="9600" dirty="0" err="1"/>
              <a:t>you</a:t>
            </a:r>
            <a:r>
              <a:rPr lang="pt-PT" sz="9600" dirty="0"/>
              <a:t>!</a:t>
            </a:r>
            <a:br>
              <a:rPr lang="pt-PT" dirty="0"/>
            </a:br>
            <a:br>
              <a:rPr lang="pt-PT" dirty="0"/>
            </a:br>
            <a:r>
              <a:rPr lang="pt-PT" dirty="0" err="1"/>
              <a:t>Questions</a:t>
            </a:r>
            <a:r>
              <a:rPr lang="pt-PT" dirty="0"/>
              <a:t>?</a:t>
            </a:r>
            <a:br>
              <a:rPr lang="pt-PT" dirty="0"/>
            </a:b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02416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193</Words>
  <Application>Microsoft Office PowerPoint</Application>
  <PresentationFormat>Apresentação no Ecrã (4:3)</PresentationFormat>
  <Paragraphs>17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Arial MT</vt:lpstr>
      <vt:lpstr>Calibri</vt:lpstr>
      <vt:lpstr>Office Theme</vt:lpstr>
      <vt:lpstr>Evolution of the MARGe Project</vt:lpstr>
      <vt:lpstr>Apresentação do PowerPoint</vt:lpstr>
      <vt:lpstr>Fundamental Axes of Contributions</vt:lpstr>
      <vt:lpstr>Extension of the Reactive Graph Formalism</vt:lpstr>
      <vt:lpstr>Guarded Reactive Graphs (GRG)</vt:lpstr>
      <vt:lpstr>Timed Reactive Graphs (TRG)</vt:lpstr>
      <vt:lpstr>2. Formal Analysis and Property Verification</vt:lpstr>
      <vt:lpstr>Thank you!  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Joshua Capistrano</cp:lastModifiedBy>
  <cp:revision>2</cp:revision>
  <dcterms:created xsi:type="dcterms:W3CDTF">2025-11-26T20:34:54Z</dcterms:created>
  <dcterms:modified xsi:type="dcterms:W3CDTF">2025-11-26T20:40:15Z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2025-11-26T00:00:00Z</vt:filetime>
  </property>
  <property fmtid="{D5CDD505-2E9C-101B-9397-08002B2CF9AE}" pid="5" name="Producer">
    <vt:lpwstr>Microsoft® PowerPoint® para Microsoft 365</vt:lpwstr>
  </property>
</Properties>
</file>